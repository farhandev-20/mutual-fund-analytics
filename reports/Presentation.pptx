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</a:t>
            </a:r>
          </a:p>
          <a:p>
            <a:r>
              <a:t>End-to-end data engineering, analytics and Power 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Build a reusable ETL pipeline</a:t>
            </a:r>
          </a:p>
          <a:p>
            <a:pPr>
              <a:spcAft>
                <a:spcPts val="1000"/>
              </a:spcAft>
              <a:defRPr sz="2200"/>
            </a:pPr>
            <a:r>
              <a:t>Clean and validate mutual fund datasets</a:t>
            </a:r>
          </a:p>
          <a:p>
            <a:pPr>
              <a:spcAft>
                <a:spcPts val="1000"/>
              </a:spcAft>
              <a:defRPr sz="2200"/>
            </a:pPr>
            <a:r>
              <a:t>Create a relational SQLite database</a:t>
            </a:r>
          </a:p>
          <a:p>
            <a:pPr>
              <a:spcAft>
                <a:spcPts val="1000"/>
              </a:spcAft>
              <a:defRPr sz="2200"/>
            </a:pPr>
            <a:r>
              <a:t>Analyze performance, risk and investor behavior</a:t>
            </a:r>
          </a:p>
          <a:p>
            <a:pPr>
              <a:spcAft>
                <a:spcPts val="1000"/>
              </a:spcAft>
              <a:defRPr sz="2200"/>
            </a:pPr>
            <a:r>
              <a:t>Build recommendations and an interactive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Multiple CSV datasets covering funds, NAV, AUM, SIP, portfolios, benchmarks and investors</a:t>
            </a:r>
          </a:p>
          <a:p>
            <a:pPr>
              <a:spcAft>
                <a:spcPts val="1000"/>
              </a:spcAft>
              <a:defRPr sz="2200"/>
            </a:pPr>
            <a:r>
              <a:t>Dynamic project paths — no machine-specific hard-coded paths</a:t>
            </a:r>
          </a:p>
          <a:p>
            <a:pPr>
              <a:spcAft>
                <a:spcPts val="1000"/>
              </a:spcAft>
              <a:defRPr sz="2200"/>
            </a:pPr>
            <a:r>
              <a:t>Duplicate removal, empty-row/column handling and column standardization</a:t>
            </a:r>
          </a:p>
          <a:p>
            <a:pPr>
              <a:spcAft>
                <a:spcPts val="1000"/>
              </a:spcAft>
              <a:defRPr sz="2200"/>
            </a:pPr>
            <a:r>
              <a:t>Clean datasets written to data/processed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SQLite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Relational SQLite schema for all major analytical datasets</a:t>
            </a:r>
          </a:p>
          <a:p>
            <a:pPr>
              <a:spcAft>
                <a:spcPts val="1000"/>
              </a:spcAft>
              <a:defRPr sz="2200"/>
            </a:pPr>
            <a:r>
              <a:t>Fund master used as the reference table</a:t>
            </a:r>
          </a:p>
          <a:p>
            <a:pPr>
              <a:spcAft>
                <a:spcPts val="1000"/>
              </a:spcAft>
              <a:defRPr sz="2200"/>
            </a:pPr>
            <a:r>
              <a:t>Foreign keys maintain AMFI-code integrity</a:t>
            </a:r>
          </a:p>
          <a:p>
            <a:pPr>
              <a:spcAft>
                <a:spcPts val="1000"/>
              </a:spcAft>
              <a:defRPr sz="2200"/>
            </a:pPr>
            <a:r>
              <a:t>Database files kept local and excluded from 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Fund-house AUM comparison</a:t>
            </a:r>
          </a:p>
          <a:p>
            <a:pPr>
              <a:spcAft>
                <a:spcPts val="1000"/>
              </a:spcAft>
              <a:defRPr sz="2200"/>
            </a:pPr>
            <a:r>
              <a:t>Monthly SIP inflow trends</a:t>
            </a:r>
          </a:p>
          <a:p>
            <a:pPr>
              <a:spcAft>
                <a:spcPts val="1000"/>
              </a:spcAft>
              <a:defRPr sz="2200"/>
            </a:pPr>
            <a:r>
              <a:t>Category-level inflow analysis</a:t>
            </a:r>
          </a:p>
          <a:p>
            <a:pPr>
              <a:spcAft>
                <a:spcPts val="1000"/>
              </a:spcAft>
              <a:defRPr sz="2200"/>
            </a:pPr>
            <a:r>
              <a:t>Top scheme performance and NAV trends</a:t>
            </a:r>
          </a:p>
          <a:p>
            <a:pPr>
              <a:spcAft>
                <a:spcPts val="1000"/>
              </a:spcAft>
              <a:defRPr sz="2200"/>
            </a:pPr>
            <a:r>
              <a:t>Correlation analysis across key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Risk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CAGR based on actual elapsed years</a:t>
            </a:r>
          </a:p>
          <a:p>
            <a:pPr>
              <a:spcAft>
                <a:spcPts val="1000"/>
              </a:spcAft>
              <a:defRPr sz="2200"/>
            </a:pPr>
            <a:r>
              <a:t>Annualized volatility</a:t>
            </a:r>
          </a:p>
          <a:p>
            <a:pPr>
              <a:spcAft>
                <a:spcPts val="1000"/>
              </a:spcAft>
              <a:defRPr sz="2200"/>
            </a:pPr>
            <a:r>
              <a:t>Maximum drawdown</a:t>
            </a:r>
          </a:p>
          <a:p>
            <a:pPr>
              <a:spcAft>
                <a:spcPts val="1000"/>
              </a:spcAft>
              <a:defRPr sz="2200"/>
            </a:pPr>
            <a:r>
              <a:t>Historical 95% daily VaR</a:t>
            </a:r>
          </a:p>
          <a:p>
            <a:pPr>
              <a:spcAft>
                <a:spcPts val="1000"/>
              </a:spcAft>
              <a:defRPr sz="2200"/>
            </a:pPr>
            <a:r>
              <a:t>Beta against benchmark</a:t>
            </a:r>
          </a:p>
          <a:p>
            <a:pPr>
              <a:spcAft>
                <a:spcPts val="1000"/>
              </a:spcAft>
              <a:defRPr sz="2200"/>
            </a:pPr>
            <a:r>
              <a:t>Sharpe ratio with explicit zero risk-free-rate assumption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Investor cohort retention by first transaction month</a:t>
            </a:r>
          </a:p>
          <a:p>
            <a:pPr>
              <a:spcAft>
                <a:spcPts val="1000"/>
              </a:spcAft>
              <a:defRPr sz="2200"/>
            </a:pPr>
            <a:r>
              <a:t>Historical VaR visualization</a:t>
            </a:r>
          </a:p>
          <a:p>
            <a:pPr>
              <a:spcAft>
                <a:spcPts val="1000"/>
              </a:spcAft>
              <a:defRPr sz="2200"/>
            </a:pPr>
            <a:r>
              <a:t>Rule-based recommendation score</a:t>
            </a:r>
          </a:p>
          <a:p>
            <a:pPr>
              <a:spcAft>
                <a:spcPts val="1000"/>
              </a:spcAft>
              <a:defRPr sz="2200"/>
            </a:pPr>
            <a:r>
              <a:t>Recommendation weights: Return 30%, Sharpe 25%, Volatility 20%, Drawdown 15%, Expense 10%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Page 1 — Executive Overview</a:t>
            </a:r>
          </a:p>
          <a:p>
            <a:pPr>
              <a:spcAft>
                <a:spcPts val="1000"/>
              </a:spcAft>
              <a:defRPr sz="2200"/>
            </a:pPr>
            <a:r>
              <a:t>Page 2 — Fund Performance &amp; Risk</a:t>
            </a:r>
          </a:p>
          <a:p>
            <a:pPr>
              <a:spcAft>
                <a:spcPts val="1000"/>
              </a:spcAft>
              <a:defRPr sz="2200"/>
            </a:pPr>
            <a:r>
              <a:t>Page 3 — Investor &amp; SIP Analytics</a:t>
            </a:r>
          </a:p>
          <a:p>
            <a:pPr>
              <a:spcAft>
                <a:spcPts val="1000"/>
              </a:spcAft>
              <a:defRPr sz="2200"/>
            </a:pPr>
            <a:r>
              <a:t>Page 4 — Advanced Analytics</a:t>
            </a:r>
          </a:p>
          <a:p>
            <a:pPr>
              <a:spcAft>
                <a:spcPts val="1000"/>
              </a:spcAft>
              <a:defRPr sz="2200"/>
            </a:pPr>
            <a:r>
              <a:t>Interactive slicers support business-focused exploration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README.md</a:t>
            </a:r>
          </a:p>
          <a:p>
            <a:pPr>
              <a:spcAft>
                <a:spcPts val="1000"/>
              </a:spcAft>
              <a:defRPr sz="2200"/>
            </a:pPr>
            <a:r>
              <a:t>Final_Report.pdf</a:t>
            </a:r>
          </a:p>
          <a:p>
            <a:pPr>
              <a:spcAft>
                <a:spcPts val="1000"/>
              </a:spcAft>
              <a:defRPr sz="2200"/>
            </a:pPr>
            <a:r>
              <a:t>Presentation.pptx</a:t>
            </a:r>
          </a:p>
          <a:p>
            <a:pPr>
              <a:spcAft>
                <a:spcPts val="1000"/>
              </a:spcAft>
              <a:defRPr sz="2200"/>
            </a:pPr>
            <a:r>
              <a:t>bluestock_mf.pbix</a:t>
            </a:r>
          </a:p>
          <a:p>
            <a:pPr>
              <a:spcAft>
                <a:spcPts val="1000"/>
              </a:spcAft>
              <a:defRPr sz="2200"/>
            </a:pPr>
            <a:r>
              <a:t>Python notebooks, scripts and SQL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The project converts raw mutual fund data into validated, reproducible analytics.</a:t>
            </a:r>
          </a:p>
          <a:p>
            <a:pPr>
              <a:spcAft>
                <a:spcPts val="1000"/>
              </a:spcAft>
              <a:defRPr sz="2200"/>
            </a:pPr>
            <a:r>
              <a:t>Performance, risk, investor retention and recommendation insights are combined in one dashboard.</a:t>
            </a:r>
          </a:p>
          <a:p>
            <a:pPr>
              <a:spcAft>
                <a:spcPts val="1000"/>
              </a:spcAft>
              <a:defRPr sz="2200"/>
            </a:pPr>
            <a:r>
              <a:t>The workflow is designed for repeatable analysis and future extension.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